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tags/tag20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  <p:sldMasterId id="2147483684" r:id="rId3"/>
    <p:sldMasterId id="2147483702" r:id="rId4"/>
  </p:sldMasterIdLst>
  <p:notesMasterIdLst>
    <p:notesMasterId r:id="rId6"/>
  </p:notesMasterIdLst>
  <p:sldIdLst>
    <p:sldId id="31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B3EF7-6599-4093-8FF5-31111B2109BC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44447-34A5-44B5-9EFF-DEAE69F2D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910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1E23B-FB1D-8117-9257-AD351912B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4E475-A1AC-C81E-DFE7-E96D9AA436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FAE46-E85A-F2EA-44AB-CFED126FC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D457D-43C8-5E5D-14F0-95C06CAC4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C682FD-3A08-4969-A369-4828B3232A0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5169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7.png"/><Relationship Id="rId4" Type="http://schemas.openxmlformats.org/officeDocument/2006/relationships/image" Target="../media/image5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8.jpe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oleObject" Target="../embeddings/oleObject6.bin"/><Relationship Id="rId7" Type="http://schemas.openxmlformats.org/officeDocument/2006/relationships/image" Target="../media/image12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4" Type="http://schemas.openxmlformats.org/officeDocument/2006/relationships/image" Target="../media/image5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8.bin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.xml"/><Relationship Id="rId5" Type="http://schemas.openxmlformats.org/officeDocument/2006/relationships/image" Target="../media/image7.png"/><Relationship Id="rId4" Type="http://schemas.openxmlformats.org/officeDocument/2006/relationships/image" Target="../media/image5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" y="3022602"/>
            <a:ext cx="10363200" cy="91276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en-US" sz="5333" b="1" kern="1200" dirty="0" smtClean="0">
                <a:solidFill>
                  <a:srgbClr val="114A84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4965171"/>
            <a:ext cx="12192000" cy="80724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400"/>
          </a:p>
        </p:txBody>
      </p:sp>
      <p:pic>
        <p:nvPicPr>
          <p:cNvPr id="9" name="Picture 2" descr="E:\TVS\TVS Credit New Identity\Corporate PPT\For PPT\TVS Credit Logo-0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73" y="452671"/>
            <a:ext cx="2688299" cy="51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771" y="243547"/>
            <a:ext cx="1495588" cy="15260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5703785"/>
            <a:ext cx="12192000" cy="68627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101600" y="5107862"/>
            <a:ext cx="11830757" cy="461513"/>
          </a:xfrm>
        </p:spPr>
        <p:txBody>
          <a:bodyPr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481324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22016"/>
            <a:ext cx="10972800" cy="8587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106285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2667" b="1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>
            <a:normAutofit/>
          </a:bodyPr>
          <a:lstStyle>
            <a:lvl1pPr marL="0" indent="0">
              <a:buNone/>
              <a:defRPr lang="en-US" sz="5333" b="1" kern="1200" dirty="0" smtClean="0">
                <a:solidFill>
                  <a:srgbClr val="114A84"/>
                </a:solidFill>
                <a:latin typeface="+mn-lt"/>
                <a:ea typeface="+mn-ea"/>
                <a:cs typeface="+mn-cs"/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717693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7" name="Rectangle 6"/>
          <p:cNvSpPr/>
          <p:nvPr/>
        </p:nvSpPr>
        <p:spPr>
          <a:xfrm>
            <a:off x="6109547" y="1"/>
            <a:ext cx="6096000" cy="685800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8" name="Picture 2" descr="E:\TVS\TVS Credit New Identity\Corporate PPT\For PPT\TVS Credit Logo-0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8" y="2887967"/>
            <a:ext cx="3827664" cy="731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77282" y="2929173"/>
            <a:ext cx="5849756" cy="1362075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4267" b="1" cap="none">
                <a:latin typeface="+mn-lt"/>
              </a:defRPr>
            </a:lvl1pPr>
          </a:lstStyle>
          <a:p>
            <a:r>
              <a:rPr lang="en-US"/>
              <a:t>Section Break Title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197600" y="4849297"/>
            <a:ext cx="5872480" cy="1127113"/>
          </a:xfrm>
        </p:spPr>
        <p:txBody>
          <a:bodyPr anchor="t"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59492"/>
            <a:ext cx="12192000" cy="112057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11" name="Rectangle 10"/>
          <p:cNvSpPr/>
          <p:nvPr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4160577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27" y="15242"/>
            <a:ext cx="10972800" cy="8587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00152"/>
            <a:ext cx="5384800" cy="4464049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00152"/>
            <a:ext cx="5384800" cy="4464049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302451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73" y="22016"/>
            <a:ext cx="10972800" cy="8587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76352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916112"/>
            <a:ext cx="5386917" cy="3951288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276352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1916112"/>
            <a:ext cx="5389033" cy="3951288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883376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" y="16702"/>
            <a:ext cx="10972800" cy="8587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120437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754420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1452630"/>
            <a:ext cx="4011084" cy="960372"/>
          </a:xfrm>
          <a:prstGeom prst="rect">
            <a:avLst/>
          </a:prstGeom>
        </p:spPr>
        <p:txBody>
          <a:bodyPr anchor="b"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446634"/>
            <a:ext cx="6815667" cy="483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667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133">
                <a:solidFill>
                  <a:schemeClr val="tx1"/>
                </a:solidFill>
              </a:defRPr>
            </a:lvl4pPr>
            <a:lvl5pPr>
              <a:defRPr sz="2133">
                <a:solidFill>
                  <a:schemeClr val="tx1"/>
                </a:solidFill>
              </a:defRPr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2616200"/>
            <a:ext cx="4011084" cy="36576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82373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247542"/>
            <a:ext cx="7315200" cy="3400660"/>
          </a:xfrm>
        </p:spPr>
        <p:txBody>
          <a:bodyPr/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40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8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959118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" y="15242"/>
            <a:ext cx="10972800" cy="8587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1397001"/>
            <a:ext cx="10972800" cy="45259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953186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377949"/>
            <a:ext cx="2743200" cy="4387851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2667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377949"/>
            <a:ext cx="8026400" cy="43878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996058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6FCD5FC-E863-40C1-BE17-2707E7E8096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20" y="2120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7" imgH="327" progId="TCLayout.ActiveDocument.1">
                  <p:embed/>
                </p:oleObj>
              </mc:Choice>
              <mc:Fallback>
                <p:oleObj name="think-cell Slide" r:id="rId4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6FCD5FC-E863-40C1-BE17-2707E7E809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20" y="2120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B45D9F-CFE7-48B1-9820-C2C5F43D8E47}"/>
              </a:ext>
            </a:extLst>
          </p:cNvPr>
          <p:cNvCxnSpPr/>
          <p:nvPr/>
        </p:nvCxnSpPr>
        <p:spPr>
          <a:xfrm>
            <a:off x="203200" y="6457153"/>
            <a:ext cx="11780784" cy="1587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676EC637-D416-41F6-8076-CDC612DACFF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" y="4"/>
            <a:ext cx="211667" cy="211667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3465" b="0" i="0" baseline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203201" y="73027"/>
            <a:ext cx="11360003" cy="790572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2400" b="1" i="0" u="none" kern="1200" spc="0">
                <a:solidFill>
                  <a:srgbClr val="009933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E3B9BD-B58B-4C38-B6F3-9278BD7C7D97}"/>
              </a:ext>
            </a:extLst>
          </p:cNvPr>
          <p:cNvCxnSpPr/>
          <p:nvPr/>
        </p:nvCxnSpPr>
        <p:spPr>
          <a:xfrm>
            <a:off x="203200" y="949327"/>
            <a:ext cx="11780784" cy="1588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10">
            <a:extLst>
              <a:ext uri="{FF2B5EF4-FFF2-40B4-BE49-F238E27FC236}">
                <a16:creationId xmlns:a16="http://schemas.microsoft.com/office/drawing/2014/main" id="{0D112B3D-AE0C-4C8E-BEEB-CB25F6CC0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8686" y="6520935"/>
            <a:ext cx="1574633" cy="184650"/>
          </a:xfrm>
          <a:prstGeom prst="rect">
            <a:avLst/>
          </a:prstGeom>
          <a:solidFill>
            <a:srgbClr val="009933"/>
          </a:solidFill>
          <a:ln w="4763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60944" tIns="30472" rIns="60944" bIns="30472">
            <a:spAutoFit/>
          </a:bodyPr>
          <a:lstStyle/>
          <a:p>
            <a:pPr marL="0" indent="0">
              <a:defRPr/>
            </a:pPr>
            <a:r>
              <a:rPr lang="en-US" sz="800">
                <a:solidFill>
                  <a:prstClr val="white"/>
                </a:solidFill>
                <a:latin typeface="+mn-lt"/>
                <a:ea typeface="+mn-ea"/>
                <a:cs typeface="+mn-cs"/>
                <a:sym typeface="+mn-lt"/>
              </a:rPr>
              <a:t>Confidential – Not for circulation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AD1DA85-1443-49FD-90A1-290738618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40194"/>
            <a:ext cx="553984" cy="3181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rgbClr val="009933"/>
                </a:solidFill>
              </a:defRPr>
            </a:lvl1pPr>
          </a:lstStyle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FDF199D-4355-4D8C-A461-2799AD0096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1" y="1152524"/>
            <a:ext cx="10953603" cy="180478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132"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2"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73A"/>
              </a:buClr>
              <a:buFont typeface="Arial" panose="020B0604020202020204" pitchFamily="34" charset="0"/>
              <a:buChar char="•"/>
              <a:defRPr sz="2132"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bk object 19">
            <a:extLst>
              <a:ext uri="{FF2B5EF4-FFF2-40B4-BE49-F238E27FC236}">
                <a16:creationId xmlns:a16="http://schemas.microsoft.com/office/drawing/2014/main" id="{93EBE519-2FEF-4E08-9145-23D703ABE626}"/>
              </a:ext>
            </a:extLst>
          </p:cNvPr>
          <p:cNvSpPr/>
          <p:nvPr/>
        </p:nvSpPr>
        <p:spPr>
          <a:xfrm>
            <a:off x="10011025" y="6509008"/>
            <a:ext cx="1420367" cy="2727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00"/>
          </a:p>
        </p:txBody>
      </p:sp>
    </p:spTree>
    <p:extLst>
      <p:ext uri="{BB962C8B-B14F-4D97-AF65-F5344CB8AC3E}">
        <p14:creationId xmlns:p14="http://schemas.microsoft.com/office/powerpoint/2010/main" val="92595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Green one third">
    <p:bg>
      <p:bgPr>
        <a:gradFill flip="none" rotWithShape="1">
          <a:gsLst>
            <a:gs pos="20000">
              <a:schemeClr val="accent1"/>
            </a:gs>
            <a:gs pos="100000">
              <a:schemeClr val="accent2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A1F84A1-F987-437E-8325-D683438A79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1119430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A1F84A1-F987-437E-8325-D683438A79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H="1">
            <a:off x="3671071" y="0"/>
            <a:ext cx="416951" cy="68580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630002" y="2681104"/>
            <a:ext cx="3127881" cy="1495795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3467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Rectangle 12"/>
          <p:cNvSpPr/>
          <p:nvPr/>
        </p:nvSpPr>
        <p:spPr bwMode="white">
          <a:xfrm>
            <a:off x="4080764" y="-1309"/>
            <a:ext cx="8111237" cy="68593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31EA6E0-D7B0-43F0-BCB3-34E24BAAC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16679"/>
            <a:ext cx="553984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chemeClr val="accent1"/>
                </a:solidFill>
              </a:defRPr>
            </a:lvl1pPr>
          </a:lstStyle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0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6FCD5FC-E863-40C1-BE17-2707E7E8096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6447585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7" imgH="327" progId="TCLayout.ActiveDocument.1">
                  <p:embed/>
                </p:oleObj>
              </mc:Choice>
              <mc:Fallback>
                <p:oleObj name="think-cell Slide" r:id="rId4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6FCD5FC-E863-40C1-BE17-2707E7E809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676EC637-D416-41F6-8076-CDC612DACFF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" y="1"/>
            <a:ext cx="211667" cy="211667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3467" b="0" i="0" baseline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203201" y="73027"/>
            <a:ext cx="11360003" cy="790572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200" b="0" i="0" u="none" kern="1200" spc="0">
                <a:solidFill>
                  <a:srgbClr val="009933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E3B9BD-B58B-4C38-B6F3-9278BD7C7D97}"/>
              </a:ext>
            </a:extLst>
          </p:cNvPr>
          <p:cNvCxnSpPr/>
          <p:nvPr/>
        </p:nvCxnSpPr>
        <p:spPr>
          <a:xfrm>
            <a:off x="203200" y="949327"/>
            <a:ext cx="11780784" cy="1588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B45D9F-CFE7-48B1-9820-C2C5F43D8E47}"/>
              </a:ext>
            </a:extLst>
          </p:cNvPr>
          <p:cNvCxnSpPr/>
          <p:nvPr/>
        </p:nvCxnSpPr>
        <p:spPr>
          <a:xfrm>
            <a:off x="203200" y="6364292"/>
            <a:ext cx="11780784" cy="1587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10">
            <a:extLst>
              <a:ext uri="{FF2B5EF4-FFF2-40B4-BE49-F238E27FC236}">
                <a16:creationId xmlns:a16="http://schemas.microsoft.com/office/drawing/2014/main" id="{0D112B3D-AE0C-4C8E-BEEB-CB25F6CC0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8685" y="6428076"/>
            <a:ext cx="1574633" cy="184666"/>
          </a:xfrm>
          <a:prstGeom prst="rect">
            <a:avLst/>
          </a:prstGeom>
          <a:solidFill>
            <a:srgbClr val="009933"/>
          </a:solidFill>
          <a:ln w="4763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60960" tIns="30480" rIns="60960" bIns="30480">
            <a:spAutoFit/>
          </a:bodyPr>
          <a:lstStyle/>
          <a:p>
            <a:pPr marL="0" indent="0">
              <a:defRPr/>
            </a:pPr>
            <a:r>
              <a:rPr lang="en-US" sz="800">
                <a:solidFill>
                  <a:prstClr val="white"/>
                </a:solidFill>
                <a:latin typeface="+mn-lt"/>
                <a:ea typeface="+mn-ea"/>
                <a:cs typeface="+mn-cs"/>
                <a:sym typeface="+mn-lt"/>
              </a:rPr>
              <a:t>Confidential – Not for circulation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AD1DA85-1443-49FD-90A1-290738618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16679"/>
            <a:ext cx="553984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rgbClr val="009933"/>
                </a:solidFill>
              </a:defRPr>
            </a:lvl1pPr>
          </a:lstStyle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FDF199D-4355-4D8C-A461-2799AD0096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152523"/>
            <a:ext cx="10953603" cy="502223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133"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73A"/>
              </a:buClr>
              <a:buFont typeface="Arial" panose="020B0604020202020204" pitchFamily="34" charset="0"/>
              <a:buChar char="•"/>
              <a:defRPr sz="2133"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129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6FCD5FC-E863-40C1-BE17-2707E7E8096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1015265"/>
              </p:ext>
            </p:extLst>
          </p:nvPr>
        </p:nvGraphicFramePr>
        <p:xfrm>
          <a:off x="2118" y="2120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7" imgH="327" progId="TCLayout.ActiveDocument.1">
                  <p:embed/>
                </p:oleObj>
              </mc:Choice>
              <mc:Fallback>
                <p:oleObj name="think-cell Slide" r:id="rId4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6FCD5FC-E863-40C1-BE17-2707E7E809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20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676EC637-D416-41F6-8076-CDC612DACFF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2"/>
            <a:ext cx="211667" cy="211667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3466" b="0" i="0" baseline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AD1DA85-1443-49FD-90A1-290738618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16680"/>
            <a:ext cx="553984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rgbClr val="009933"/>
                </a:solidFill>
              </a:defRPr>
            </a:lvl1pPr>
          </a:lstStyle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bk object 19">
            <a:extLst>
              <a:ext uri="{FF2B5EF4-FFF2-40B4-BE49-F238E27FC236}">
                <a16:creationId xmlns:a16="http://schemas.microsoft.com/office/drawing/2014/main" id="{93EBE519-2FEF-4E08-9145-23D703ABE626}"/>
              </a:ext>
            </a:extLst>
          </p:cNvPr>
          <p:cNvSpPr/>
          <p:nvPr/>
        </p:nvSpPr>
        <p:spPr>
          <a:xfrm>
            <a:off x="9817009" y="6467445"/>
            <a:ext cx="1420366" cy="2727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01D8EE-17A3-C372-45F0-8D6B989A75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0" cy="62484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E20774-B552-ADC0-7943-E8508395468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595" y="117762"/>
            <a:ext cx="701390" cy="53345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816F364-B4BD-0C1B-7613-FD66570646C8}"/>
              </a:ext>
            </a:extLst>
          </p:cNvPr>
          <p:cNvSpPr/>
          <p:nvPr/>
        </p:nvSpPr>
        <p:spPr>
          <a:xfrm>
            <a:off x="-1" y="6812280"/>
            <a:ext cx="9237846" cy="45720"/>
          </a:xfrm>
          <a:prstGeom prst="rect">
            <a:avLst/>
          </a:prstGeom>
          <a:solidFill>
            <a:srgbClr val="164B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2739F2-6420-739D-3615-21A52ADB357F}"/>
              </a:ext>
            </a:extLst>
          </p:cNvPr>
          <p:cNvSpPr/>
          <p:nvPr/>
        </p:nvSpPr>
        <p:spPr>
          <a:xfrm>
            <a:off x="2928282" y="6812280"/>
            <a:ext cx="9237846" cy="45720"/>
          </a:xfrm>
          <a:prstGeom prst="rect">
            <a:avLst/>
          </a:prstGeom>
          <a:solidFill>
            <a:srgbClr val="138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F0B920-C785-A4FA-3266-866F09D8F4FA}"/>
              </a:ext>
            </a:extLst>
          </p:cNvPr>
          <p:cNvSpPr/>
          <p:nvPr/>
        </p:nvSpPr>
        <p:spPr>
          <a:xfrm>
            <a:off x="-1" y="6467444"/>
            <a:ext cx="1565973" cy="314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1224431-8043-6A2D-87D9-1B92C3FE08DD}"/>
              </a:ext>
            </a:extLst>
          </p:cNvPr>
          <p:cNvCxnSpPr/>
          <p:nvPr/>
        </p:nvCxnSpPr>
        <p:spPr>
          <a:xfrm>
            <a:off x="13860" y="831325"/>
            <a:ext cx="1216468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895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6E85EEE-309A-4A69-947C-3107F50C1CC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7661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24" imgH="623" progId="TCLayout.ActiveDocument.1">
                  <p:embed/>
                </p:oleObj>
              </mc:Choice>
              <mc:Fallback>
                <p:oleObj name="think-cell Slide" r:id="rId3" imgW="624" imgH="623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6E85EEE-309A-4A69-947C-3107F50C1C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bk object 16"/>
          <p:cNvSpPr/>
          <p:nvPr/>
        </p:nvSpPr>
        <p:spPr>
          <a:xfrm>
            <a:off x="11660124" y="2"/>
            <a:ext cx="528827" cy="5257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17" name="bk object 17"/>
          <p:cNvSpPr/>
          <p:nvPr/>
        </p:nvSpPr>
        <p:spPr>
          <a:xfrm>
            <a:off x="400812" y="6597397"/>
            <a:ext cx="9791065" cy="43815"/>
          </a:xfrm>
          <a:custGeom>
            <a:avLst/>
            <a:gdLst/>
            <a:ahLst/>
            <a:cxnLst/>
            <a:rect l="l" t="t" r="r" b="b"/>
            <a:pathLst>
              <a:path w="9791065" h="43815">
                <a:moveTo>
                  <a:pt x="0" y="0"/>
                </a:moveTo>
                <a:lnTo>
                  <a:pt x="9790544" y="43573"/>
                </a:lnTo>
              </a:path>
            </a:pathLst>
          </a:custGeom>
          <a:ln w="12191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18" name="bk object 18"/>
          <p:cNvSpPr/>
          <p:nvPr/>
        </p:nvSpPr>
        <p:spPr>
          <a:xfrm>
            <a:off x="10372343" y="6368798"/>
            <a:ext cx="1418831" cy="2727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19" name="bk object 19"/>
          <p:cNvSpPr/>
          <p:nvPr/>
        </p:nvSpPr>
        <p:spPr>
          <a:xfrm>
            <a:off x="0" y="0"/>
            <a:ext cx="12189460" cy="4965700"/>
          </a:xfrm>
          <a:custGeom>
            <a:avLst/>
            <a:gdLst/>
            <a:ahLst/>
            <a:cxnLst/>
            <a:rect l="l" t="t" r="r" b="b"/>
            <a:pathLst>
              <a:path w="12189460" h="4965700">
                <a:moveTo>
                  <a:pt x="0" y="4965192"/>
                </a:moveTo>
                <a:lnTo>
                  <a:pt x="12188952" y="4965192"/>
                </a:lnTo>
                <a:lnTo>
                  <a:pt x="12188952" y="0"/>
                </a:lnTo>
                <a:lnTo>
                  <a:pt x="0" y="0"/>
                </a:lnTo>
                <a:lnTo>
                  <a:pt x="0" y="49651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20" name="bk object 20"/>
          <p:cNvSpPr/>
          <p:nvPr/>
        </p:nvSpPr>
        <p:spPr>
          <a:xfrm>
            <a:off x="0" y="5772913"/>
            <a:ext cx="12189460" cy="1085215"/>
          </a:xfrm>
          <a:custGeom>
            <a:avLst/>
            <a:gdLst/>
            <a:ahLst/>
            <a:cxnLst/>
            <a:rect l="l" t="t" r="r" b="b"/>
            <a:pathLst>
              <a:path w="12189460" h="1085215">
                <a:moveTo>
                  <a:pt x="0" y="1085088"/>
                </a:moveTo>
                <a:lnTo>
                  <a:pt x="12188952" y="1085088"/>
                </a:lnTo>
                <a:lnTo>
                  <a:pt x="12188952" y="0"/>
                </a:lnTo>
                <a:lnTo>
                  <a:pt x="0" y="0"/>
                </a:lnTo>
                <a:lnTo>
                  <a:pt x="0" y="10850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21" name="bk object 21"/>
          <p:cNvSpPr/>
          <p:nvPr/>
        </p:nvSpPr>
        <p:spPr>
          <a:xfrm>
            <a:off x="0" y="4965191"/>
            <a:ext cx="12189460" cy="739140"/>
          </a:xfrm>
          <a:custGeom>
            <a:avLst/>
            <a:gdLst/>
            <a:ahLst/>
            <a:cxnLst/>
            <a:rect l="l" t="t" r="r" b="b"/>
            <a:pathLst>
              <a:path w="12189460" h="739139">
                <a:moveTo>
                  <a:pt x="0" y="739139"/>
                </a:moveTo>
                <a:lnTo>
                  <a:pt x="12188952" y="739139"/>
                </a:lnTo>
                <a:lnTo>
                  <a:pt x="12188952" y="0"/>
                </a:lnTo>
                <a:lnTo>
                  <a:pt x="0" y="0"/>
                </a:lnTo>
                <a:lnTo>
                  <a:pt x="0" y="739139"/>
                </a:lnTo>
                <a:close/>
              </a:path>
            </a:pathLst>
          </a:custGeom>
          <a:solidFill>
            <a:srgbClr val="128843"/>
          </a:solidFill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22" name="bk object 22"/>
          <p:cNvSpPr/>
          <p:nvPr/>
        </p:nvSpPr>
        <p:spPr>
          <a:xfrm>
            <a:off x="431292" y="452629"/>
            <a:ext cx="2688335" cy="51358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23" name="bk object 23"/>
          <p:cNvSpPr/>
          <p:nvPr/>
        </p:nvSpPr>
        <p:spPr>
          <a:xfrm>
            <a:off x="10434829" y="243842"/>
            <a:ext cx="1495043" cy="152552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24" name="bk object 24"/>
          <p:cNvSpPr/>
          <p:nvPr/>
        </p:nvSpPr>
        <p:spPr>
          <a:xfrm>
            <a:off x="0" y="5704332"/>
            <a:ext cx="12189460" cy="68580"/>
          </a:xfrm>
          <a:custGeom>
            <a:avLst/>
            <a:gdLst/>
            <a:ahLst/>
            <a:cxnLst/>
            <a:rect l="l" t="t" r="r" b="b"/>
            <a:pathLst>
              <a:path w="12189460" h="68579">
                <a:moveTo>
                  <a:pt x="0" y="68580"/>
                </a:moveTo>
                <a:lnTo>
                  <a:pt x="12188952" y="68580"/>
                </a:lnTo>
                <a:lnTo>
                  <a:pt x="12188952" y="0"/>
                </a:lnTo>
                <a:lnTo>
                  <a:pt x="0" y="0"/>
                </a:lnTo>
                <a:lnTo>
                  <a:pt x="0" y="68580"/>
                </a:lnTo>
                <a:close/>
              </a:path>
            </a:pathLst>
          </a:custGeom>
          <a:solidFill>
            <a:srgbClr val="114984"/>
          </a:solidFill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99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26141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265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6FCD5FC-E863-40C1-BE17-2707E7E8096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414400"/>
              </p:ext>
            </p:extLst>
          </p:nvPr>
        </p:nvGraphicFramePr>
        <p:xfrm>
          <a:off x="2118" y="2120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7" imgH="327" progId="TCLayout.ActiveDocument.1">
                  <p:embed/>
                </p:oleObj>
              </mc:Choice>
              <mc:Fallback>
                <p:oleObj name="think-cell Slide" r:id="rId4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6FCD5FC-E863-40C1-BE17-2707E7E809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20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B45D9F-CFE7-48B1-9820-C2C5F43D8E47}"/>
              </a:ext>
            </a:extLst>
          </p:cNvPr>
          <p:cNvCxnSpPr/>
          <p:nvPr/>
        </p:nvCxnSpPr>
        <p:spPr>
          <a:xfrm>
            <a:off x="203200" y="6457151"/>
            <a:ext cx="11780784" cy="1587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676EC637-D416-41F6-8076-CDC612DACFF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2"/>
            <a:ext cx="211667" cy="211667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3466" b="0" i="0" baseline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203201" y="73027"/>
            <a:ext cx="11360003" cy="790572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2400" b="1" i="0" u="none" kern="1200" spc="0">
                <a:solidFill>
                  <a:srgbClr val="009933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E3B9BD-B58B-4C38-B6F3-9278BD7C7D97}"/>
              </a:ext>
            </a:extLst>
          </p:cNvPr>
          <p:cNvCxnSpPr/>
          <p:nvPr/>
        </p:nvCxnSpPr>
        <p:spPr>
          <a:xfrm>
            <a:off x="203200" y="949326"/>
            <a:ext cx="11780784" cy="1588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10">
            <a:extLst>
              <a:ext uri="{FF2B5EF4-FFF2-40B4-BE49-F238E27FC236}">
                <a16:creationId xmlns:a16="http://schemas.microsoft.com/office/drawing/2014/main" id="{0D112B3D-AE0C-4C8E-BEEB-CB25F6CC0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8684" y="6520934"/>
            <a:ext cx="1574633" cy="184666"/>
          </a:xfrm>
          <a:prstGeom prst="rect">
            <a:avLst/>
          </a:prstGeom>
          <a:solidFill>
            <a:srgbClr val="009933"/>
          </a:solidFill>
          <a:ln w="4763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60944" tIns="30472" rIns="60944" bIns="30472">
            <a:spAutoFit/>
          </a:bodyPr>
          <a:lstStyle/>
          <a:p>
            <a:pPr marL="0" indent="0">
              <a:defRPr/>
            </a:pPr>
            <a:r>
              <a:rPr lang="en-US" sz="800">
                <a:solidFill>
                  <a:prstClr val="white"/>
                </a:solidFill>
                <a:latin typeface="+mn-lt"/>
                <a:ea typeface="+mn-ea"/>
                <a:cs typeface="+mn-cs"/>
                <a:sym typeface="+mn-lt"/>
              </a:rPr>
              <a:t>Confidential – Not for circulation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AD1DA85-1443-49FD-90A1-290738618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40192"/>
            <a:ext cx="553984" cy="3181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rgbClr val="009933"/>
                </a:solidFill>
              </a:defRPr>
            </a:lvl1pPr>
          </a:lstStyle>
          <a:p>
            <a:fld id="{741E28E5-5E6E-4370-B422-796D2EBFC73E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FDF199D-4355-4D8C-A461-2799AD0096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152524"/>
            <a:ext cx="10953603" cy="180478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132"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2"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73A"/>
              </a:buClr>
              <a:buFont typeface="Arial" panose="020B0604020202020204" pitchFamily="34" charset="0"/>
              <a:buChar char="•"/>
              <a:defRPr sz="2132"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6">
                <a:latin typeface="+mn-lt"/>
                <a:ea typeface="+mn-ea"/>
                <a:cs typeface="+mn-cs"/>
                <a:sym typeface="+mn-lt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6"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bk object 19">
            <a:extLst>
              <a:ext uri="{FF2B5EF4-FFF2-40B4-BE49-F238E27FC236}">
                <a16:creationId xmlns:a16="http://schemas.microsoft.com/office/drawing/2014/main" id="{93EBE519-2FEF-4E08-9145-23D703ABE626}"/>
              </a:ext>
            </a:extLst>
          </p:cNvPr>
          <p:cNvSpPr/>
          <p:nvPr/>
        </p:nvSpPr>
        <p:spPr>
          <a:xfrm>
            <a:off x="10011023" y="6509006"/>
            <a:ext cx="1420366" cy="2727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00"/>
          </a:p>
        </p:txBody>
      </p:sp>
    </p:spTree>
    <p:extLst>
      <p:ext uri="{BB962C8B-B14F-4D97-AF65-F5344CB8AC3E}">
        <p14:creationId xmlns:p14="http://schemas.microsoft.com/office/powerpoint/2010/main" val="94979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line">
    <p:bg bwMode="blackWhite">
      <p:bgPr>
        <a:gradFill flip="none" rotWithShape="1">
          <a:gsLst>
            <a:gs pos="100000">
              <a:srgbClr val="0070C0"/>
            </a:gs>
            <a:gs pos="100000">
              <a:schemeClr val="accent2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DA3F419-4F5C-4D25-93D6-457316FB83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95998477"/>
              </p:ext>
            </p:extLst>
          </p:nvPr>
        </p:nvGraphicFramePr>
        <p:xfrm>
          <a:off x="2118" y="2120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DA3F419-4F5C-4D25-93D6-457316FB83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20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3826800"/>
            <a:ext cx="10936800" cy="2041200"/>
          </a:xfrm>
        </p:spPr>
        <p:txBody>
          <a:bodyPr vert="horz" anchor="t">
            <a:noAutofit/>
          </a:bodyPr>
          <a:lstStyle>
            <a:lvl1pPr>
              <a:defRPr sz="5331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cxnSp>
        <p:nvCxnSpPr>
          <p:cNvPr id="148" name="Straight Connector 147"/>
          <p:cNvCxnSpPr/>
          <p:nvPr/>
        </p:nvCxnSpPr>
        <p:spPr bwMode="white">
          <a:xfrm>
            <a:off x="618900" y="3680016"/>
            <a:ext cx="11576304" cy="0"/>
          </a:xfrm>
          <a:prstGeom prst="line">
            <a:avLst/>
          </a:prstGeom>
          <a:ln w="19050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743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6FCD5FC-E863-40C1-BE17-2707E7E8096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644758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7" imgH="327" progId="TCLayout.ActiveDocument.1">
                  <p:embed/>
                </p:oleObj>
              </mc:Choice>
              <mc:Fallback>
                <p:oleObj name="think-cell Slide" r:id="rId4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6FCD5FC-E863-40C1-BE17-2707E7E809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676EC637-D416-41F6-8076-CDC612DACFF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3467" b="0" i="0" baseline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203200" y="73027"/>
            <a:ext cx="11360003" cy="790572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200" b="0" i="0" u="none" kern="1200" spc="0">
                <a:solidFill>
                  <a:srgbClr val="009933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E3B9BD-B58B-4C38-B6F3-9278BD7C7D97}"/>
              </a:ext>
            </a:extLst>
          </p:cNvPr>
          <p:cNvCxnSpPr/>
          <p:nvPr/>
        </p:nvCxnSpPr>
        <p:spPr>
          <a:xfrm>
            <a:off x="203200" y="949326"/>
            <a:ext cx="11780784" cy="1588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B45D9F-CFE7-48B1-9820-C2C5F43D8E47}"/>
              </a:ext>
            </a:extLst>
          </p:cNvPr>
          <p:cNvCxnSpPr/>
          <p:nvPr/>
        </p:nvCxnSpPr>
        <p:spPr>
          <a:xfrm>
            <a:off x="203200" y="6364291"/>
            <a:ext cx="11780784" cy="1587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10">
            <a:extLst>
              <a:ext uri="{FF2B5EF4-FFF2-40B4-BE49-F238E27FC236}">
                <a16:creationId xmlns:a16="http://schemas.microsoft.com/office/drawing/2014/main" id="{0D112B3D-AE0C-4C8E-BEEB-CB25F6CC0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8683" y="6428076"/>
            <a:ext cx="1574633" cy="184666"/>
          </a:xfrm>
          <a:prstGeom prst="rect">
            <a:avLst/>
          </a:prstGeom>
          <a:solidFill>
            <a:srgbClr val="009933"/>
          </a:solidFill>
          <a:ln w="4763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60960" tIns="30480" rIns="60960" bIns="30480">
            <a:spAutoFit/>
          </a:bodyPr>
          <a:lstStyle/>
          <a:p>
            <a:pPr marL="0" indent="0">
              <a:defRPr/>
            </a:pPr>
            <a:r>
              <a:rPr lang="en-US" sz="800">
                <a:solidFill>
                  <a:prstClr val="white"/>
                </a:solidFill>
                <a:latin typeface="+mn-lt"/>
                <a:ea typeface="+mn-ea"/>
                <a:cs typeface="+mn-cs"/>
                <a:sym typeface="+mn-lt"/>
              </a:rPr>
              <a:t>Confidential – Not for circulation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AD1DA85-1443-49FD-90A1-290738618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16678"/>
            <a:ext cx="553984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rgbClr val="009933"/>
                </a:solidFill>
              </a:defRPr>
            </a:lvl1pPr>
          </a:lstStyle>
          <a:p>
            <a:fld id="{741E28E5-5E6E-4370-B422-796D2EBFC73E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FDF199D-4355-4D8C-A461-2799AD0096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1152522"/>
            <a:ext cx="10953603" cy="502223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133"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73A"/>
              </a:buClr>
              <a:buFont typeface="Arial" panose="020B0604020202020204" pitchFamily="34" charset="0"/>
              <a:buChar char="•"/>
              <a:defRPr sz="2133"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528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7E712-0615-A416-48B0-3079621A2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0751"/>
            <a:ext cx="355600" cy="370724"/>
          </a:xfrm>
        </p:spPr>
        <p:txBody>
          <a:bodyPr/>
          <a:lstStyle/>
          <a:p>
            <a:fld id="{D2195CBC-9DA3-43EE-9EE2-2CBA61F74F3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8959DB-8C18-6D7C-9DD9-473DB7F391B4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E89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2BCD18-9C14-CC99-2D59-76A759B62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78" y="6312651"/>
            <a:ext cx="1316181" cy="370724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383BDDA-D7CF-004F-A8CB-B8FBD5987CE6}"/>
              </a:ext>
            </a:extLst>
          </p:cNvPr>
          <p:cNvCxnSpPr>
            <a:cxnSpLocks/>
          </p:cNvCxnSpPr>
          <p:nvPr/>
        </p:nvCxnSpPr>
        <p:spPr>
          <a:xfrm>
            <a:off x="101600" y="6610635"/>
            <a:ext cx="1066337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99493478-86F4-2DDA-DCA8-D1BBE3F03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04" b="89542" l="4412" r="89706">
                        <a14:foregroundMark x1="5147" y1="16340" x2="5147" y2="16340"/>
                        <a14:foregroundMark x1="84559" y1="89542" x2="84559" y2="8954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97009" y="-150813"/>
            <a:ext cx="812800" cy="914400"/>
          </a:xfrm>
          <a:prstGeom prst="rect">
            <a:avLst/>
          </a:prstGeom>
        </p:spPr>
      </p:pic>
      <p:sp>
        <p:nvSpPr>
          <p:cNvPr id="18" name="fl" descr="Classification: Internal">
            <a:extLst>
              <a:ext uri="{FF2B5EF4-FFF2-40B4-BE49-F238E27FC236}">
                <a16:creationId xmlns:a16="http://schemas.microsoft.com/office/drawing/2014/main" id="{29E13B79-3074-06DF-0326-E6DB33347C04}"/>
              </a:ext>
            </a:extLst>
          </p:cNvPr>
          <p:cNvSpPr txBox="1"/>
          <p:nvPr/>
        </p:nvSpPr>
        <p:spPr>
          <a:xfrm>
            <a:off x="0" y="6568123"/>
            <a:ext cx="1316181" cy="2000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/>
            <a:r>
              <a:rPr lang="en-US" sz="700" b="0" i="0" u="none" baseline="0">
                <a:solidFill>
                  <a:srgbClr val="000000"/>
                </a:solidFill>
                <a:latin typeface="Raleway" panose="020B0603030101060003" pitchFamily="34" charset="0"/>
              </a:rPr>
              <a:t>Classification: </a:t>
            </a:r>
            <a:r>
              <a:rPr lang="en-US" sz="700" b="1" i="0" u="none" baseline="0">
                <a:solidFill>
                  <a:srgbClr val="114984"/>
                </a:solidFill>
                <a:latin typeface="Raleway" panose="020B0603030101060003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1248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" y="3022601"/>
            <a:ext cx="10363200" cy="91276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en-US" sz="5333" b="1" kern="1200" dirty="0" smtClean="0">
                <a:solidFill>
                  <a:srgbClr val="114A84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1" y="6396991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0" y="4965171"/>
            <a:ext cx="12192000" cy="80724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400"/>
          </a:p>
        </p:txBody>
      </p:sp>
      <p:pic>
        <p:nvPicPr>
          <p:cNvPr id="9" name="Picture 2" descr="E:\TVS\TVS Credit New Identity\Corporate PPT\For PPT\TVS Credit Logo-0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72" y="452670"/>
            <a:ext cx="2688299" cy="51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770" y="243547"/>
            <a:ext cx="1495588" cy="15260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5703785"/>
            <a:ext cx="12192000" cy="68627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101600" y="5107861"/>
            <a:ext cx="11830757" cy="461513"/>
          </a:xfrm>
        </p:spPr>
        <p:txBody>
          <a:bodyPr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-2020017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9489524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22014"/>
            <a:ext cx="10972800" cy="8587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1" y="6396991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-2020017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1896623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2667" b="1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>
            <a:normAutofit/>
          </a:bodyPr>
          <a:lstStyle>
            <a:lvl1pPr marL="0" indent="0">
              <a:buNone/>
              <a:defRPr lang="en-US" sz="5333" b="1" kern="1200" dirty="0" smtClean="0">
                <a:solidFill>
                  <a:srgbClr val="114A84"/>
                </a:solidFill>
                <a:latin typeface="+mn-lt"/>
                <a:ea typeface="+mn-ea"/>
                <a:cs typeface="+mn-cs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1" y="6396991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-2020017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964433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7" name="Rectangle 6"/>
          <p:cNvSpPr/>
          <p:nvPr/>
        </p:nvSpPr>
        <p:spPr>
          <a:xfrm>
            <a:off x="6109547" y="1"/>
            <a:ext cx="6096000" cy="685800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8" name="Picture 2" descr="E:\TVS\TVS Credit New Identity\Corporate PPT\For PPT\TVS Credit Logo-0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8" y="2887966"/>
            <a:ext cx="3827664" cy="731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77281" y="2929173"/>
            <a:ext cx="5849756" cy="1362075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4267" b="1" cap="none">
                <a:latin typeface="+mn-lt"/>
              </a:defRPr>
            </a:lvl1pPr>
          </a:lstStyle>
          <a:p>
            <a:r>
              <a:rPr lang="en-US"/>
              <a:t>Section Break Title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197600" y="4849296"/>
            <a:ext cx="5872480" cy="1127113"/>
          </a:xfrm>
        </p:spPr>
        <p:txBody>
          <a:bodyPr anchor="t"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59490"/>
            <a:ext cx="12192000" cy="112057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11" name="Rectangle 10"/>
          <p:cNvSpPr/>
          <p:nvPr/>
        </p:nvSpPr>
        <p:spPr>
          <a:xfrm>
            <a:off x="-2020017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9276902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27" y="15241"/>
            <a:ext cx="10972800" cy="8587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00150"/>
            <a:ext cx="5384800" cy="4464049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00150"/>
            <a:ext cx="5384800" cy="4464049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-461" y="6396991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-2020017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41419286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73" y="22014"/>
            <a:ext cx="10972800" cy="8587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76351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916112"/>
            <a:ext cx="5386917" cy="3951288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276351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1916112"/>
            <a:ext cx="5389033" cy="3951288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-461" y="6396991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-2020017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2904278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" y="16701"/>
            <a:ext cx="10972800" cy="8587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-461" y="6396991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-2020017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4091374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-461" y="6396991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-2020017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5642766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1452629"/>
            <a:ext cx="4011084" cy="960372"/>
          </a:xfrm>
          <a:prstGeom prst="rect">
            <a:avLst/>
          </a:prstGeom>
        </p:spPr>
        <p:txBody>
          <a:bodyPr anchor="b"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446633"/>
            <a:ext cx="6815667" cy="483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667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133">
                <a:solidFill>
                  <a:schemeClr val="tx1"/>
                </a:solidFill>
              </a:defRPr>
            </a:lvl4pPr>
            <a:lvl5pPr>
              <a:defRPr sz="2133">
                <a:solidFill>
                  <a:schemeClr val="tx1"/>
                </a:solidFill>
              </a:defRPr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2616200"/>
            <a:ext cx="4011084" cy="36576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-461" y="6396991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-2020017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454864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247541"/>
            <a:ext cx="7315200" cy="340066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-461" y="6396991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-2020017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853573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" y="15241"/>
            <a:ext cx="10972800" cy="8587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1397000"/>
            <a:ext cx="10972800" cy="45259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1" y="6396991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-2020017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2759194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377949"/>
            <a:ext cx="2743200" cy="4387851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2667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377949"/>
            <a:ext cx="8026400" cy="43878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1" y="6396991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-2020017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8631673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6FCD5FC-E863-40C1-BE17-2707E7E8096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9" y="2120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7" imgH="327" progId="TCLayout.ActiveDocument.1">
                  <p:embed/>
                </p:oleObj>
              </mc:Choice>
              <mc:Fallback>
                <p:oleObj name="think-cell Slide" r:id="rId4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6FCD5FC-E863-40C1-BE17-2707E7E809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20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B45D9F-CFE7-48B1-9820-C2C5F43D8E47}"/>
              </a:ext>
            </a:extLst>
          </p:cNvPr>
          <p:cNvCxnSpPr/>
          <p:nvPr/>
        </p:nvCxnSpPr>
        <p:spPr>
          <a:xfrm>
            <a:off x="203200" y="6457152"/>
            <a:ext cx="11780784" cy="1587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676EC637-D416-41F6-8076-CDC612DACFF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" y="3"/>
            <a:ext cx="211667" cy="211667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3465" b="0" i="0" baseline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203201" y="73027"/>
            <a:ext cx="11360003" cy="790572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2400" b="1" i="0" u="none" kern="1200" spc="0">
                <a:solidFill>
                  <a:srgbClr val="009933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E3B9BD-B58B-4C38-B6F3-9278BD7C7D97}"/>
              </a:ext>
            </a:extLst>
          </p:cNvPr>
          <p:cNvCxnSpPr/>
          <p:nvPr/>
        </p:nvCxnSpPr>
        <p:spPr>
          <a:xfrm>
            <a:off x="203200" y="949327"/>
            <a:ext cx="11780784" cy="1588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10">
            <a:extLst>
              <a:ext uri="{FF2B5EF4-FFF2-40B4-BE49-F238E27FC236}">
                <a16:creationId xmlns:a16="http://schemas.microsoft.com/office/drawing/2014/main" id="{0D112B3D-AE0C-4C8E-BEEB-CB25F6CC0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8685" y="6520935"/>
            <a:ext cx="1574633" cy="184650"/>
          </a:xfrm>
          <a:prstGeom prst="rect">
            <a:avLst/>
          </a:prstGeom>
          <a:solidFill>
            <a:srgbClr val="009933"/>
          </a:solidFill>
          <a:ln w="4763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60944" tIns="30472" rIns="60944" bIns="30472">
            <a:spAutoFit/>
          </a:bodyPr>
          <a:lstStyle/>
          <a:p>
            <a:pPr marL="0" indent="0">
              <a:defRPr/>
            </a:pPr>
            <a:r>
              <a:rPr lang="en-US" sz="800">
                <a:solidFill>
                  <a:prstClr val="white"/>
                </a:solidFill>
                <a:latin typeface="+mn-lt"/>
                <a:ea typeface="+mn-ea"/>
                <a:cs typeface="+mn-cs"/>
                <a:sym typeface="+mn-lt"/>
              </a:rPr>
              <a:t>Confidential – Not for circulation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AD1DA85-1443-49FD-90A1-290738618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40193"/>
            <a:ext cx="553984" cy="3181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rgbClr val="009933"/>
                </a:solidFill>
              </a:defRPr>
            </a:lvl1pPr>
          </a:lstStyle>
          <a:p>
            <a:fld id="{741E28E5-5E6E-4370-B422-796D2EBFC73E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FDF199D-4355-4D8C-A461-2799AD0096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1" y="1152524"/>
            <a:ext cx="10953603" cy="180478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132"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2"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73A"/>
              </a:buClr>
              <a:buFont typeface="Arial" panose="020B0604020202020204" pitchFamily="34" charset="0"/>
              <a:buChar char="•"/>
              <a:defRPr sz="2132"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bk object 19">
            <a:extLst>
              <a:ext uri="{FF2B5EF4-FFF2-40B4-BE49-F238E27FC236}">
                <a16:creationId xmlns:a16="http://schemas.microsoft.com/office/drawing/2014/main" id="{93EBE519-2FEF-4E08-9145-23D703ABE626}"/>
              </a:ext>
            </a:extLst>
          </p:cNvPr>
          <p:cNvSpPr/>
          <p:nvPr/>
        </p:nvSpPr>
        <p:spPr>
          <a:xfrm>
            <a:off x="10011023" y="6509007"/>
            <a:ext cx="1420367" cy="2727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00"/>
          </a:p>
        </p:txBody>
      </p:sp>
    </p:spTree>
    <p:extLst>
      <p:ext uri="{BB962C8B-B14F-4D97-AF65-F5344CB8AC3E}">
        <p14:creationId xmlns:p14="http://schemas.microsoft.com/office/powerpoint/2010/main" val="895640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Green one third">
    <p:bg>
      <p:bgPr>
        <a:gradFill flip="none" rotWithShape="1">
          <a:gsLst>
            <a:gs pos="20000">
              <a:schemeClr val="accent1"/>
            </a:gs>
            <a:gs pos="100000">
              <a:schemeClr val="accent2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A1F84A1-F987-437E-8325-D683438A79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1119430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A1F84A1-F987-437E-8325-D683438A79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H="1">
            <a:off x="3671070" y="0"/>
            <a:ext cx="416951" cy="68580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630001" y="2681103"/>
            <a:ext cx="3127881" cy="1495795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3467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Rectangle 12"/>
          <p:cNvSpPr/>
          <p:nvPr/>
        </p:nvSpPr>
        <p:spPr bwMode="white">
          <a:xfrm>
            <a:off x="4080764" y="-1309"/>
            <a:ext cx="8111237" cy="68593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31EA6E0-D7B0-43F0-BCB3-34E24BAAC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16678"/>
            <a:ext cx="553984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chemeClr val="accent1"/>
                </a:solidFill>
              </a:defRPr>
            </a:lvl1pPr>
          </a:lstStyle>
          <a:p>
            <a:fld id="{741E28E5-5E6E-4370-B422-796D2EBFC73E}" type="slidenum">
              <a:rPr lang="en-SG" smtClean="0"/>
              <a:pPr/>
              <a:t>‹#›</a:t>
            </a:fld>
            <a:endParaRPr lang="en-SG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103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6FCD5FC-E863-40C1-BE17-2707E7E8096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644758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7" imgH="327" progId="TCLayout.ActiveDocument.1">
                  <p:embed/>
                </p:oleObj>
              </mc:Choice>
              <mc:Fallback>
                <p:oleObj name="think-cell Slide" r:id="rId4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6FCD5FC-E863-40C1-BE17-2707E7E809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676EC637-D416-41F6-8076-CDC612DACFF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3467" b="0" i="0" baseline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203200" y="73027"/>
            <a:ext cx="11360003" cy="790572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200" b="0" i="0" u="none" kern="1200" spc="0">
                <a:solidFill>
                  <a:srgbClr val="009933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E3B9BD-B58B-4C38-B6F3-9278BD7C7D97}"/>
              </a:ext>
            </a:extLst>
          </p:cNvPr>
          <p:cNvCxnSpPr/>
          <p:nvPr/>
        </p:nvCxnSpPr>
        <p:spPr>
          <a:xfrm>
            <a:off x="203200" y="949326"/>
            <a:ext cx="11780784" cy="1588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B45D9F-CFE7-48B1-9820-C2C5F43D8E47}"/>
              </a:ext>
            </a:extLst>
          </p:cNvPr>
          <p:cNvCxnSpPr/>
          <p:nvPr/>
        </p:nvCxnSpPr>
        <p:spPr>
          <a:xfrm>
            <a:off x="203200" y="6364291"/>
            <a:ext cx="11780784" cy="1587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10">
            <a:extLst>
              <a:ext uri="{FF2B5EF4-FFF2-40B4-BE49-F238E27FC236}">
                <a16:creationId xmlns:a16="http://schemas.microsoft.com/office/drawing/2014/main" id="{0D112B3D-AE0C-4C8E-BEEB-CB25F6CC0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8683" y="6428076"/>
            <a:ext cx="1574633" cy="184666"/>
          </a:xfrm>
          <a:prstGeom prst="rect">
            <a:avLst/>
          </a:prstGeom>
          <a:solidFill>
            <a:srgbClr val="009933"/>
          </a:solidFill>
          <a:ln w="4763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60960" tIns="30480" rIns="60960" bIns="30480">
            <a:spAutoFit/>
          </a:bodyPr>
          <a:lstStyle/>
          <a:p>
            <a:pPr marL="0" indent="0">
              <a:defRPr/>
            </a:pPr>
            <a:r>
              <a:rPr lang="en-US" sz="800">
                <a:solidFill>
                  <a:prstClr val="white"/>
                </a:solidFill>
                <a:latin typeface="+mn-lt"/>
                <a:ea typeface="+mn-ea"/>
                <a:cs typeface="+mn-cs"/>
                <a:sym typeface="+mn-lt"/>
              </a:rPr>
              <a:t>Confidential – Not for circulation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AD1DA85-1443-49FD-90A1-290738618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16678"/>
            <a:ext cx="553984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rgbClr val="009933"/>
                </a:solidFill>
              </a:defRPr>
            </a:lvl1pPr>
          </a:lstStyle>
          <a:p>
            <a:fld id="{741E28E5-5E6E-4370-B422-796D2EBFC73E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FDF199D-4355-4D8C-A461-2799AD0096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1152522"/>
            <a:ext cx="10953603" cy="502223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133"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73A"/>
              </a:buClr>
              <a:buFont typeface="Arial" panose="020B0604020202020204" pitchFamily="34" charset="0"/>
              <a:buChar char="•"/>
              <a:defRPr sz="2133"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0428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247" y="3681413"/>
            <a:ext cx="10363200" cy="15001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0"/>
          </p:nvPr>
        </p:nvSpPr>
        <p:spPr>
          <a:xfrm>
            <a:off x="963247" y="2156205"/>
            <a:ext cx="10363200" cy="15001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4310039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ingle Line 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625" y="599703"/>
            <a:ext cx="10956007" cy="482139"/>
          </a:xfrm>
        </p:spPr>
        <p:txBody>
          <a:bodyPr/>
          <a:lstStyle>
            <a:lvl1pPr>
              <a:defRPr lang="en-US"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8"/>
          <p:cNvSpPr>
            <a:spLocks noGrp="1"/>
          </p:cNvSpPr>
          <p:nvPr>
            <p:ph sz="quarter" idx="13"/>
          </p:nvPr>
        </p:nvSpPr>
        <p:spPr>
          <a:xfrm>
            <a:off x="631625" y="1206340"/>
            <a:ext cx="10963932" cy="5045611"/>
          </a:xfrm>
        </p:spPr>
        <p:txBody>
          <a:bodyPr/>
          <a:lstStyle>
            <a:lvl1pPr marL="188877" indent="-188877">
              <a:buFont typeface="Arial"/>
              <a:buChar char="•"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3EDF78-9552-4685-89CA-C0866CF75FC6}" type="slidenum"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67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48946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2C36C-EF44-B5DE-89AE-AFFA438CD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04F9E-37F3-AEB6-00EA-2B2F6B616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D0779-8ADB-E10E-0C2F-C019CA67A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0B73C-D3F8-4693-989D-E2698FC75FF2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408B-C20F-53A6-0759-B5C09971D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75728-342D-CEB3-C925-D5662F66D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1A8C-7D65-4E65-93C3-7DBDB3426A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04236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3B5D4-8EDD-4F21-CA11-153CF6351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1611A-B46A-4D33-A127-2409DD364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385C8-4998-759E-29DE-CC33E75B1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0B73C-D3F8-4693-989D-E2698FC75FF2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7AF3B-4EC5-A1DE-DB0F-17CE9872A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25E11-12EF-9818-A76A-7F5948D28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1A8C-7D65-4E65-93C3-7DBDB3426A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7649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AAC6B-3D04-FE62-21F1-B18CEB2F4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39D4B-71AC-F1A7-32B3-32BDEC7A0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987A8-25A6-4988-8266-270DBB994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0B73C-D3F8-4693-989D-E2698FC75FF2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417B3-FB9B-28C6-54F9-B86E0F755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74AE6-B425-26BF-9878-56C55A34D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1A8C-7D65-4E65-93C3-7DBDB3426A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5384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9C2CA-3961-4039-BCE3-2CE68CF36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6D5E2-1C65-3837-F47A-A188CB6D7E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9A9CD0-F5D0-089E-B726-4E5D9533E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3DC8D-3442-B70C-1CDF-D6143A62B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0B73C-D3F8-4693-989D-E2698FC75FF2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585C4-D514-532C-D26B-47F120319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FDC13-065C-2EBA-21CB-302BD4E33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1A8C-7D65-4E65-93C3-7DBDB3426A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7306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A039-C1B0-4FEA-B4BC-7BDF77B5D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561E9-E051-9E29-134F-6289D2FBB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B10C3B-423D-73F0-745E-348531BB8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0D8B19-F589-CC82-FD8F-19CAFCD52E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1C4DCC-C5B7-0210-48A8-D51FFD2AB4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48B724-36BB-EF74-2789-28D9C80BA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0B73C-D3F8-4693-989D-E2698FC75FF2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85CA85-F420-77B9-D83F-7FC063C62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DED529-A88C-1E45-CCF5-8D89C4DB3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1A8C-7D65-4E65-93C3-7DBDB3426A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2485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46CA8-99C8-E7F4-5DBD-60406A709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2E23EC-913B-E2CD-D27B-67DA55AA3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0B73C-D3F8-4693-989D-E2698FC75FF2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2F1BAF-B422-5CD0-CA6C-E48E3C06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D63B8-8C10-A206-D545-511208542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1A8C-7D65-4E65-93C3-7DBDB3426A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16326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6B280D-513E-7285-01F9-215BC4B72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0B73C-D3F8-4693-989D-E2698FC75FF2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DB9AC2-1433-9EEB-271D-47065D254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E3F9F-DDA7-4DF2-FB31-815CC79D9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1A8C-7D65-4E65-93C3-7DBDB3426A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7636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EEE82-AE27-9F3E-15A9-E33FE27A2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DED47-5BC0-8C61-44B7-690F73A1D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B3389-5576-C6D0-C8BC-A0164D9D6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0EAE6-CA0C-3DB3-F8C0-6CB13CE4D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0B73C-D3F8-4693-989D-E2698FC75FF2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00357-7509-236A-5194-246B8CA7C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423FD5-45AE-4604-E0AD-170B1D92F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1A8C-7D65-4E65-93C3-7DBDB3426A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1272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0524-8C3D-EEA4-CE67-EDF55D520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105C60-879E-0740-B20F-139505A98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229BC0-7773-5112-D8EC-D1614BAF9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79D28-96DF-5E7B-CBCC-F0A2A3271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0B73C-D3F8-4693-989D-E2698FC75FF2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CE8B49-BDBB-48D2-607E-BDDE36C8A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A7B96D-D3A0-E2E1-AC72-5F547B63E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1A8C-7D65-4E65-93C3-7DBDB3426A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8162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AF38A-20C0-3E18-C2EA-9EE62ABC4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81103F-03F2-3441-C008-62DA38E56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1A175-EA34-A905-B1F8-646B5908A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0B73C-D3F8-4693-989D-E2698FC75FF2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6CFBF-8F01-978F-8610-650F78A16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96E3D-F0D4-9B83-F463-A856FB34E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1A8C-7D65-4E65-93C3-7DBDB3426A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38448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CFA40A-2167-6917-DB89-C9FF5962DB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1137AC-D411-04AD-AA31-16CF84E5F2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4CE19-BCF5-3705-36BD-7FB1360B2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0B73C-D3F8-4693-989D-E2698FC75FF2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AECCD-1685-6410-AC71-CCB1576F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D1E1E-DA1C-D0F5-BE8B-F9A8EEAD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F1A8C-7D65-4E65-93C3-7DBDB3426A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76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slideLayout" Target="../slideLayouts/slideLayout1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image" Target="../media/image11.png"/><Relationship Id="rId5" Type="http://schemas.openxmlformats.org/officeDocument/2006/relationships/slideLayout" Target="../slideLayouts/slideLayout21.xml"/><Relationship Id="rId10" Type="http://schemas.openxmlformats.org/officeDocument/2006/relationships/image" Target="../media/image10.emf"/><Relationship Id="rId4" Type="http://schemas.openxmlformats.org/officeDocument/2006/relationships/slideLayout" Target="../slideLayouts/slideLayout20.xml"/><Relationship Id="rId9" Type="http://schemas.openxmlformats.org/officeDocument/2006/relationships/oleObject" Target="../embeddings/oleObject5.bin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ags" Target="../tags/tag20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theme" Target="../theme/theme4.xml"/><Relationship Id="rId17" Type="http://schemas.openxmlformats.org/officeDocument/2006/relationships/image" Target="../media/image18.png"/><Relationship Id="rId2" Type="http://schemas.openxmlformats.org/officeDocument/2006/relationships/slideLayout" Target="../slideLayouts/slideLayout41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image" Target="../media/image16.emf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oleObject" Target="../embeddings/oleObject9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" y="12954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" y="-13547"/>
            <a:ext cx="12205547" cy="932723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3681" y="2"/>
            <a:ext cx="528321" cy="525060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101600" y="28789"/>
            <a:ext cx="10972800" cy="8587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401299" y="6597354"/>
            <a:ext cx="9793088" cy="4358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E:\TVS\TVS Credit New Identity\Corporate PPT\For PPT\TVS Credit Logo-01.png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3657" y="6369361"/>
            <a:ext cx="1420497" cy="271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14008" y="6424084"/>
            <a:ext cx="511663" cy="365125"/>
          </a:xfrm>
          <a:prstGeom prst="rect">
            <a:avLst/>
          </a:prstGeom>
        </p:spPr>
        <p:txBody>
          <a:bodyPr/>
          <a:lstStyle>
            <a:lvl1pPr>
              <a:defRPr sz="14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E1BE6C1C-7DC1-47FE-B7F9-34869B3B3DC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4" name="fl" descr="Classification: Internal"/>
          <p:cNvSpPr txBox="1"/>
          <p:nvPr/>
        </p:nvSpPr>
        <p:spPr>
          <a:xfrm>
            <a:off x="0" y="6537960"/>
            <a:ext cx="12192000" cy="2232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 </a:t>
            </a:r>
            <a:r>
              <a:rPr lang="en-US" sz="850" b="1" i="0" u="none" baseline="0">
                <a:solidFill>
                  <a:srgbClr val="4285F4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942034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1219140" rtl="0" eaLnBrk="1" latinLnBrk="0" hangingPunct="1">
        <a:spcBef>
          <a:spcPct val="0"/>
        </a:spcBef>
        <a:buNone/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7178" indent="-457178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50" indent="-380981" algn="l" defTabSz="121914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25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2133493" indent="-304784" algn="l" defTabSz="121914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062" indent="-304784" algn="l" defTabSz="1219140" rtl="0" eaLnBrk="1" latinLnBrk="0" hangingPunct="1">
        <a:spcBef>
          <a:spcPct val="20000"/>
        </a:spcBef>
        <a:buFont typeface="Arial" pitchFamily="34" charset="0"/>
        <a:buChar char="»"/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6470AAFF-5678-4CDC-B7F9-F3A12DC5AC0C}"/>
              </a:ext>
            </a:extLst>
          </p:cNvPr>
          <p:cNvGraphicFramePr>
            <a:graphicFrameLocks noChangeAspect="1"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4901694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624" imgH="623" progId="TCLayout.ActiveDocument.1">
                  <p:embed/>
                </p:oleObj>
              </mc:Choice>
              <mc:Fallback>
                <p:oleObj name="think-cell Slide" r:id="rId9" imgW="624" imgH="623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6470AAFF-5678-4CDC-B7F9-F3A12DC5AC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bk object 17"/>
          <p:cNvSpPr/>
          <p:nvPr/>
        </p:nvSpPr>
        <p:spPr>
          <a:xfrm>
            <a:off x="11660124" y="2"/>
            <a:ext cx="528827" cy="52577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21504" y="3055362"/>
            <a:ext cx="8148990" cy="589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4313" y="1139969"/>
            <a:ext cx="115433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8" name="fl" descr="Classification: Internal">
            <a:extLst>
              <a:ext uri="{FF2B5EF4-FFF2-40B4-BE49-F238E27FC236}">
                <a16:creationId xmlns:a16="http://schemas.microsoft.com/office/drawing/2014/main" id="{CCF4893F-EBFA-4196-A26C-4912D723C45D}"/>
              </a:ext>
            </a:extLst>
          </p:cNvPr>
          <p:cNvSpPr txBox="1"/>
          <p:nvPr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 </a:t>
            </a:r>
            <a:r>
              <a:rPr lang="en-US" sz="850" b="1" i="0" u="none" baseline="0">
                <a:solidFill>
                  <a:srgbClr val="4285F4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373568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063" eaLnBrk="1" hangingPunct="1">
        <a:defRPr>
          <a:latin typeface="+mn-lt"/>
          <a:ea typeface="+mn-ea"/>
          <a:cs typeface="+mn-cs"/>
        </a:defRPr>
      </a:lvl2pPr>
      <a:lvl3pPr marL="914126" eaLnBrk="1" hangingPunct="1">
        <a:defRPr>
          <a:latin typeface="+mn-lt"/>
          <a:ea typeface="+mn-ea"/>
          <a:cs typeface="+mn-cs"/>
        </a:defRPr>
      </a:lvl3pPr>
      <a:lvl4pPr marL="1371189" eaLnBrk="1" hangingPunct="1">
        <a:defRPr>
          <a:latin typeface="+mn-lt"/>
          <a:ea typeface="+mn-ea"/>
          <a:cs typeface="+mn-cs"/>
        </a:defRPr>
      </a:lvl4pPr>
      <a:lvl5pPr marL="1828251" eaLnBrk="1" hangingPunct="1">
        <a:defRPr>
          <a:latin typeface="+mn-lt"/>
          <a:ea typeface="+mn-ea"/>
          <a:cs typeface="+mn-cs"/>
        </a:defRPr>
      </a:lvl5pPr>
      <a:lvl6pPr marL="2285314" eaLnBrk="1" hangingPunct="1">
        <a:defRPr>
          <a:latin typeface="+mn-lt"/>
          <a:ea typeface="+mn-ea"/>
          <a:cs typeface="+mn-cs"/>
        </a:defRPr>
      </a:lvl6pPr>
      <a:lvl7pPr marL="2742377" eaLnBrk="1" hangingPunct="1">
        <a:defRPr>
          <a:latin typeface="+mn-lt"/>
          <a:ea typeface="+mn-ea"/>
          <a:cs typeface="+mn-cs"/>
        </a:defRPr>
      </a:lvl7pPr>
      <a:lvl8pPr marL="3199440" eaLnBrk="1" hangingPunct="1">
        <a:defRPr>
          <a:latin typeface="+mn-lt"/>
          <a:ea typeface="+mn-ea"/>
          <a:cs typeface="+mn-cs"/>
        </a:defRPr>
      </a:lvl8pPr>
      <a:lvl9pPr marL="3656503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063" eaLnBrk="1" hangingPunct="1">
        <a:defRPr>
          <a:latin typeface="+mn-lt"/>
          <a:ea typeface="+mn-ea"/>
          <a:cs typeface="+mn-cs"/>
        </a:defRPr>
      </a:lvl2pPr>
      <a:lvl3pPr marL="914126" eaLnBrk="1" hangingPunct="1">
        <a:defRPr>
          <a:latin typeface="+mn-lt"/>
          <a:ea typeface="+mn-ea"/>
          <a:cs typeface="+mn-cs"/>
        </a:defRPr>
      </a:lvl3pPr>
      <a:lvl4pPr marL="1371189" eaLnBrk="1" hangingPunct="1">
        <a:defRPr>
          <a:latin typeface="+mn-lt"/>
          <a:ea typeface="+mn-ea"/>
          <a:cs typeface="+mn-cs"/>
        </a:defRPr>
      </a:lvl4pPr>
      <a:lvl5pPr marL="1828251" eaLnBrk="1" hangingPunct="1">
        <a:defRPr>
          <a:latin typeface="+mn-lt"/>
          <a:ea typeface="+mn-ea"/>
          <a:cs typeface="+mn-cs"/>
        </a:defRPr>
      </a:lvl5pPr>
      <a:lvl6pPr marL="2285314" eaLnBrk="1" hangingPunct="1">
        <a:defRPr>
          <a:latin typeface="+mn-lt"/>
          <a:ea typeface="+mn-ea"/>
          <a:cs typeface="+mn-cs"/>
        </a:defRPr>
      </a:lvl6pPr>
      <a:lvl7pPr marL="2742377" eaLnBrk="1" hangingPunct="1">
        <a:defRPr>
          <a:latin typeface="+mn-lt"/>
          <a:ea typeface="+mn-ea"/>
          <a:cs typeface="+mn-cs"/>
        </a:defRPr>
      </a:lvl7pPr>
      <a:lvl8pPr marL="3199440" eaLnBrk="1" hangingPunct="1">
        <a:defRPr>
          <a:latin typeface="+mn-lt"/>
          <a:ea typeface="+mn-ea"/>
          <a:cs typeface="+mn-cs"/>
        </a:defRPr>
      </a:lvl8pPr>
      <a:lvl9pPr marL="3656503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" y="12954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-13547"/>
            <a:ext cx="12205547" cy="932723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3680" y="1"/>
            <a:ext cx="528321" cy="525060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101600" y="28788"/>
            <a:ext cx="10972800" cy="8587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401299" y="6597353"/>
            <a:ext cx="9793088" cy="4358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E:\TVS\TVS Credit New Identity\Corporate PPT\For PPT\TVS Credit Logo-01.png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3656" y="6369361"/>
            <a:ext cx="1420497" cy="271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14008" y="6424084"/>
            <a:ext cx="511663" cy="365125"/>
          </a:xfrm>
          <a:prstGeom prst="rect">
            <a:avLst/>
          </a:prstGeom>
        </p:spPr>
        <p:txBody>
          <a:bodyPr/>
          <a:lstStyle>
            <a:lvl1pPr>
              <a:defRPr sz="14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771CCCF-CF39-430E-99CC-5ACEF198A403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-2020017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4" name="fl" descr="Classification: Internal"/>
          <p:cNvSpPr txBox="1"/>
          <p:nvPr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 </a:t>
            </a:r>
            <a:r>
              <a:rPr lang="en-US" sz="850" b="1" i="0" u="none" baseline="0">
                <a:solidFill>
                  <a:srgbClr val="4285F4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763069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hf hdr="0" ftr="0" dt="0"/>
  <p:txStyles>
    <p:titleStyle>
      <a:lvl1pPr algn="l" defTabSz="1219170" rtl="0" eaLnBrk="1" latinLnBrk="0" hangingPunct="1">
        <a:spcBef>
          <a:spcPct val="0"/>
        </a:spcBef>
        <a:buNone/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4002201A-87FE-7CC6-6984-35815797020A}"/>
              </a:ext>
            </a:extLst>
          </p:cNvPr>
          <p:cNvGraphicFramePr>
            <a:graphicFrameLocks noChangeAspect="1"/>
          </p:cNvGraphicFramePr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42184551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22" imgH="423" progId="TCLayout.ActiveDocument.1">
                  <p:embed/>
                </p:oleObj>
              </mc:Choice>
              <mc:Fallback>
                <p:oleObj name="think-cell Slide" r:id="rId14" imgW="422" imgH="423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002201A-87FE-7CC6-6984-3581579702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FA80E6-BA8F-E17B-56CF-8C4EA8CE5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14" y="80290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7E0F3-C553-7EC3-4FF5-05D5EA0E2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914" y="211593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A0101-8764-12AC-6957-9D98746A9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EED0B73C-D3F8-4693-989D-E2698FC75FF2}" type="datetimeFigureOut">
              <a:rPr lang="en-US" smtClean="0"/>
              <a:pPr/>
              <a:t>22/05/2026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0545D-B0A8-EC99-8606-D348EC7F1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95049-A9F1-26B6-AFE8-4902909FC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0EF1A8C-7D65-4E65-93C3-7DBDB3426AC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E984CB-54C4-D434-D64B-863F42EC170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6222"/>
            <a:ext cx="12191999" cy="7966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8B1F78-5A85-5081-12C6-AF8ECB02E10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578190"/>
            <a:ext cx="1219199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408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D5F7D-3159-5A0F-3181-0AE8D1D2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27144-912B-20A3-311B-4A058B62B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22014"/>
            <a:ext cx="12003315" cy="858753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sz="2800">
                <a:latin typeface="Arial"/>
                <a:cs typeface="Arial"/>
              </a:rPr>
              <a:t>3W: Key Enhancements – Dec’25 Plan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FE25354-A975-43B0-DF6D-977FB312E184}"/>
              </a:ext>
            </a:extLst>
          </p:cNvPr>
          <p:cNvGraphicFramePr>
            <a:graphicFrameLocks noGrp="1"/>
          </p:cNvGraphicFramePr>
          <p:nvPr/>
        </p:nvGraphicFramePr>
        <p:xfrm>
          <a:off x="101600" y="1020492"/>
          <a:ext cx="11766581" cy="5279120"/>
        </p:xfrm>
        <a:graphic>
          <a:graphicData uri="http://schemas.openxmlformats.org/drawingml/2006/table">
            <a:tbl>
              <a:tblPr/>
              <a:tblGrid>
                <a:gridCol w="651632">
                  <a:extLst>
                    <a:ext uri="{9D8B030D-6E8A-4147-A177-3AD203B41FA5}">
                      <a16:colId xmlns:a16="http://schemas.microsoft.com/office/drawing/2014/main" val="3983931771"/>
                    </a:ext>
                  </a:extLst>
                </a:gridCol>
                <a:gridCol w="2111588">
                  <a:extLst>
                    <a:ext uri="{9D8B030D-6E8A-4147-A177-3AD203B41FA5}">
                      <a16:colId xmlns:a16="http://schemas.microsoft.com/office/drawing/2014/main" val="3353059931"/>
                    </a:ext>
                  </a:extLst>
                </a:gridCol>
                <a:gridCol w="2921836">
                  <a:extLst>
                    <a:ext uri="{9D8B030D-6E8A-4147-A177-3AD203B41FA5}">
                      <a16:colId xmlns:a16="http://schemas.microsoft.com/office/drawing/2014/main" val="1413372831"/>
                    </a:ext>
                  </a:extLst>
                </a:gridCol>
                <a:gridCol w="2663409">
                  <a:extLst>
                    <a:ext uri="{9D8B030D-6E8A-4147-A177-3AD203B41FA5}">
                      <a16:colId xmlns:a16="http://schemas.microsoft.com/office/drawing/2014/main" val="1177206648"/>
                    </a:ext>
                  </a:extLst>
                </a:gridCol>
                <a:gridCol w="752974">
                  <a:extLst>
                    <a:ext uri="{9D8B030D-6E8A-4147-A177-3AD203B41FA5}">
                      <a16:colId xmlns:a16="http://schemas.microsoft.com/office/drawing/2014/main" val="1918847979"/>
                    </a:ext>
                  </a:extLst>
                </a:gridCol>
                <a:gridCol w="1006908">
                  <a:extLst>
                    <a:ext uri="{9D8B030D-6E8A-4147-A177-3AD203B41FA5}">
                      <a16:colId xmlns:a16="http://schemas.microsoft.com/office/drawing/2014/main" val="1100595732"/>
                    </a:ext>
                  </a:extLst>
                </a:gridCol>
                <a:gridCol w="1006908">
                  <a:extLst>
                    <a:ext uri="{9D8B030D-6E8A-4147-A177-3AD203B41FA5}">
                      <a16:colId xmlns:a16="http://schemas.microsoft.com/office/drawing/2014/main" val="3216693959"/>
                    </a:ext>
                  </a:extLst>
                </a:gridCol>
                <a:gridCol w="651326">
                  <a:extLst>
                    <a:ext uri="{9D8B030D-6E8A-4147-A177-3AD203B41FA5}">
                      <a16:colId xmlns:a16="http://schemas.microsoft.com/office/drawing/2014/main" val="1508878998"/>
                    </a:ext>
                  </a:extLst>
                </a:gridCol>
              </a:tblGrid>
              <a:tr h="448966"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</a:pPr>
                      <a:r>
                        <a:rPr lang="en-US" sz="1400" b="1" i="0" u="none" strike="noStrike" kern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Sl. No.</a:t>
                      </a:r>
                    </a:p>
                  </a:txBody>
                  <a:tcPr marL="6718" marR="6718" marT="67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</a:pPr>
                      <a:r>
                        <a:rPr lang="en-US" sz="1400" b="1" i="0" u="none" strike="noStrike" kern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Change</a:t>
                      </a:r>
                    </a:p>
                  </a:txBody>
                  <a:tcPr marL="6718" marR="6718" marT="67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</a:pPr>
                      <a:r>
                        <a:rPr lang="en-US" sz="1400" b="1" i="0" u="none" strike="noStrike" kern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Brief About Change</a:t>
                      </a:r>
                    </a:p>
                  </a:txBody>
                  <a:tcPr marL="6718" marR="6718" marT="67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</a:pPr>
                      <a:r>
                        <a:rPr lang="en-US" sz="1400" b="1" i="0" u="none" strike="noStrike" kern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What Is The Impact</a:t>
                      </a:r>
                    </a:p>
                  </a:txBody>
                  <a:tcPr marL="6718" marR="6718" marT="67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t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Dev Effort</a:t>
                      </a:r>
                    </a:p>
                  </a:txBody>
                  <a:tcPr marL="6718" marR="6718" marT="67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1" i="0" u="none" strike="noStrike" noProof="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Gone Live/ETA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6718" marR="6718" marT="67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</a:pPr>
                      <a:r>
                        <a:rPr lang="en-IN" sz="1400" b="1" i="0" u="none" strike="noStrike" kern="1200">
                          <a:solidFill>
                            <a:schemeClr val="bg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Remarks</a:t>
                      </a:r>
                      <a:endParaRPr lang="en-US" sz="1400" b="1" i="0" u="none" strike="noStrike" kern="1200">
                        <a:solidFill>
                          <a:schemeClr val="bg1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18" marR="6718" marT="67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  <a:cs typeface="Arial"/>
                        </a:rPr>
                        <a:t>Status</a:t>
                      </a:r>
                    </a:p>
                  </a:txBody>
                  <a:tcPr marL="6718" marR="6718" marT="67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888034"/>
                  </a:ext>
                </a:extLst>
              </a:tr>
              <a:tr h="542285">
                <a:tc>
                  <a:txBody>
                    <a:bodyPr/>
                    <a:lstStyle/>
                    <a:p>
                      <a:pPr marL="0" lvl="0" algn="ctr" defTabSz="1219170">
                        <a:buNone/>
                      </a:pPr>
                      <a:r>
                        <a:rPr lang="en-I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1</a:t>
                      </a:r>
                    </a:p>
                  </a:txBody>
                  <a:tcPr marL="9524" marR="9524" marT="9524" marB="0" anchor="ctr">
                    <a:lnL w="6350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No Cost EMI</a:t>
                      </a:r>
                      <a:endParaRPr lang="en-IN" sz="12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2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000000"/>
                          </a:solidFill>
                          <a:latin typeface="Arial"/>
                        </a:rPr>
                        <a:t>Enabling options to handle subvention and offer no-cost/low -cost schemes</a:t>
                      </a:r>
                    </a:p>
                  </a:txBody>
                  <a:tcPr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kern="1200" noProof="0" dirty="0">
                          <a:solidFill>
                            <a:srgbClr val="000000"/>
                          </a:solidFill>
                          <a:latin typeface="Arial"/>
                        </a:rPr>
                        <a:t>Enables flexible schemes, drives sales.</a:t>
                      </a:r>
                    </a:p>
                  </a:txBody>
                  <a:tcPr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defTabSz="1219170" rtl="0" eaLnBrk="1" fontAlgn="ctr" latinLnBrk="0" hangingPunct="1">
                        <a:buNone/>
                      </a:pPr>
                      <a:r>
                        <a:rPr lang="en-I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defTabSz="1219170" rtl="0" eaLnBrk="1" fontAlgn="ctr" latinLnBrk="0" hangingPunct="1">
                        <a:buNone/>
                      </a:pPr>
                      <a:r>
                        <a:rPr lang="en-I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08/12/2025</a:t>
                      </a:r>
                      <a:endParaRPr lang="en-US" sz="1200" b="0" i="0" u="none" strike="noStrike" kern="1200">
                        <a:solidFill>
                          <a:schemeClr val="tx1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rtl="0">
                        <a:buNone/>
                      </a:pPr>
                      <a:r>
                        <a:rPr lang="en-IN" sz="1200" dirty="0">
                          <a:latin typeface="Arial"/>
                          <a:cs typeface="Arial"/>
                        </a:rPr>
                        <a:t>In QA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defTabSz="1219170" rtl="0" eaLnBrk="1" fontAlgn="ctr" latinLnBrk="0" hangingPunct="1">
                        <a:buNone/>
                      </a:pPr>
                      <a:endParaRPr lang="en-US" sz="1200" b="0" i="0" u="none" strike="noStrike" kern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242861"/>
                  </a:ext>
                </a:extLst>
              </a:tr>
              <a:tr h="542285">
                <a:tc>
                  <a:txBody>
                    <a:bodyPr/>
                    <a:lstStyle/>
                    <a:p>
                      <a:pPr marL="0" lvl="0" algn="ctr" defTabSz="1219170">
                        <a:buNone/>
                      </a:pPr>
                      <a:r>
                        <a:rPr lang="en-I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2</a:t>
                      </a:r>
                    </a:p>
                  </a:txBody>
                  <a:tcPr marL="9524" marR="9524" marT="9524" marB="0" anchor="ctr">
                    <a:lnL w="6350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Multi security facility</a:t>
                      </a:r>
                    </a:p>
                  </a:txBody>
                  <a:tcPr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>
                          <a:solidFill>
                            <a:srgbClr val="000000"/>
                          </a:solidFill>
                          <a:latin typeface="Arial"/>
                        </a:rPr>
                        <a:t>Enabling the multi-security facility allows users to capture and process multiple assets under a single loan application.</a:t>
                      </a:r>
                    </a:p>
                    <a:p>
                      <a:pPr marL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>
                        <a:solidFill>
                          <a:srgbClr val="000000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It streamlines disbursement, improves asset-level tracking, and manages LAN tracking. </a:t>
                      </a:r>
                      <a:endParaRPr lang="en-US" sz="1200" b="0" i="0" u="none" strike="noStrike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defTabSz="1219170" rtl="0">
                        <a:buNone/>
                      </a:pPr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XL</a:t>
                      </a:r>
                      <a:endParaRPr lang="en-US" dirty="0">
                        <a:latin typeface="Arial"/>
                        <a:cs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defTabSz="1219170" rtl="0" eaLnBrk="1" fontAlgn="ctr" latinLnBrk="0" hangingPunct="1">
                        <a:buNone/>
                      </a:pPr>
                      <a: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18/12/2025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In Dev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0604635"/>
                  </a:ext>
                </a:extLst>
              </a:tr>
              <a:tr h="542285">
                <a:tc>
                  <a:txBody>
                    <a:bodyPr/>
                    <a:lstStyle/>
                    <a:p>
                      <a:pPr marL="0" lvl="0" algn="ctr" defTabSz="1219170">
                        <a:buNone/>
                      </a:pPr>
                      <a:r>
                        <a:rPr lang="en-I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3</a:t>
                      </a:r>
                    </a:p>
                  </a:txBody>
                  <a:tcPr marL="9524" marR="9524" marT="9524" marB="0" anchor="ctr">
                    <a:lnL w="6350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Sales Channel Partner- Interim</a:t>
                      </a:r>
                    </a:p>
                  </a:txBody>
                  <a:tcPr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Enable system to disburse leads from Channel partners</a:t>
                      </a:r>
                    </a:p>
                  </a:txBody>
                  <a:tcPr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Bringing in leads directly from sales channel partners, expanding our customer base</a:t>
                      </a:r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defTabSz="1219170" rtl="0">
                        <a:buNone/>
                      </a:pPr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M</a:t>
                      </a:r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defTabSz="1219170" rtl="0" eaLnBrk="1" fontAlgn="ctr" latinLnBrk="0" hangingPunct="1">
                        <a:buNone/>
                      </a:pPr>
                      <a: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08/12/2025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defTabSz="1219170" rtl="0">
                        <a:buNone/>
                      </a:pPr>
                      <a:r>
                        <a:rPr lang="en-I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In Dev</a:t>
                      </a:r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5267626"/>
                  </a:ext>
                </a:extLst>
              </a:tr>
              <a:tr h="542285">
                <a:tc>
                  <a:txBody>
                    <a:bodyPr/>
                    <a:lstStyle/>
                    <a:p>
                      <a:pPr marL="0" lvl="0" algn="ctr" defTabSz="1219170">
                        <a:buNone/>
                      </a:pPr>
                      <a:r>
                        <a:rPr lang="en-I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4</a:t>
                      </a:r>
                    </a:p>
                  </a:txBody>
                  <a:tcPr marL="9524" marR="9524" marT="9524" marB="0" anchor="ctr">
                    <a:lnL w="6350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IN" sz="1200" b="0" i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Posidex</a:t>
                      </a:r>
                      <a:r>
                        <a:rPr lang="en-IN" sz="12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 phase 2 accommodation</a:t>
                      </a:r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IN" sz="12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Implement </a:t>
                      </a:r>
                      <a:r>
                        <a:rPr lang="en-IN" sz="1200" b="0" i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Posidex</a:t>
                      </a:r>
                      <a:r>
                        <a:rPr lang="en-IN" sz="12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 dedupe changes with auto-rejection for RBI Negative / KYC Negative cases without Customer ID creation.</a:t>
                      </a:r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Enhances compliance by auto-blocking risky cases.</a:t>
                      </a:r>
                      <a:endParaRPr 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defTabSz="1219170" rtl="0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defTabSz="1219170" rtl="0" eaLnBrk="1" fontAlgn="ctr" latinLnBrk="0" hangingPunct="1">
                        <a:buNone/>
                      </a:pPr>
                      <a:r>
                        <a:rPr lang="en-I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08/12/2025</a:t>
                      </a:r>
                      <a:endParaRPr lang="en-US" sz="1200" b="0" i="0" u="none" strike="noStrike" kern="1200">
                        <a:solidFill>
                          <a:schemeClr val="tx1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defTabSz="1219170" rtl="0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In UAT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7460293"/>
                  </a:ext>
                </a:extLst>
              </a:tr>
              <a:tr h="542285">
                <a:tc>
                  <a:txBody>
                    <a:bodyPr/>
                    <a:lstStyle/>
                    <a:p>
                      <a:pPr marL="0" lvl="0" algn="ctr" defTabSz="1219170">
                        <a:buNone/>
                      </a:pPr>
                      <a:r>
                        <a:rPr lang="en-I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5</a:t>
                      </a:r>
                    </a:p>
                  </a:txBody>
                  <a:tcPr marL="9524" marR="9524" marT="9524" marB="0" anchor="ctr">
                    <a:lnL w="6350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IN" sz="12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CKYC API Integration</a:t>
                      </a:r>
                    </a:p>
                  </a:txBody>
                  <a:tcPr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IN" sz="12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Enabling CKYC mode in the onboarding process through CKYC API integration to automate customer KYC verification.</a:t>
                      </a:r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Ensures regulatory compliance and data accuracy.</a:t>
                      </a:r>
                      <a:endParaRPr 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defTabSz="1219170" rtl="0">
                        <a:buNone/>
                      </a:pPr>
                      <a:r>
                        <a:rPr lang="en-I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L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15/12/2025</a:t>
                      </a:r>
                      <a:endParaRPr lang="en-US" sz="1200">
                        <a:latin typeface="Arial"/>
                      </a:endParaRP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In Dev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9154974"/>
                  </a:ext>
                </a:extLst>
              </a:tr>
              <a:tr h="542285">
                <a:tc>
                  <a:txBody>
                    <a:bodyPr/>
                    <a:lstStyle/>
                    <a:p>
                      <a:pPr marL="0" lvl="0" algn="ctr" defTabSz="1219170">
                        <a:buNone/>
                      </a:pPr>
                      <a:r>
                        <a:rPr lang="en-I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6</a:t>
                      </a:r>
                    </a:p>
                  </a:txBody>
                  <a:tcPr marL="9524" marR="9524" marT="9524" marB="0" anchor="ctr">
                    <a:lnL w="6350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TVS Motors asset verification</a:t>
                      </a:r>
                    </a:p>
                  </a:txBody>
                  <a:tcPr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Integration with TVSM to verify engine and chassis number</a:t>
                      </a:r>
                    </a:p>
                  </a:txBody>
                  <a:tcPr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Ensures accurate asset authentication, reduces fraud risk, and improves loan processing</a:t>
                      </a:r>
                    </a:p>
                    <a:p>
                      <a:pPr marL="0" lvl="0" algn="l">
                        <a:buNone/>
                      </a:pPr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defTabSz="1219170" rtl="0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defTabSz="1219170" rtl="0" eaLnBrk="1" fontAlgn="ctr" latinLnBrk="0" hangingPunct="1">
                        <a:buNone/>
                      </a:pPr>
                      <a:r>
                        <a:rPr lang="en-I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18/12/2025</a:t>
                      </a:r>
                      <a:endParaRPr lang="en-US" sz="1200" b="0" i="0" u="none" strike="noStrike" kern="1200">
                        <a:solidFill>
                          <a:schemeClr val="tx1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algn="ctr" defTabSz="1219170" rtl="0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Ready for Development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1298801"/>
                  </a:ext>
                </a:extLst>
              </a:tr>
              <a:tr h="542285">
                <a:tc>
                  <a:txBody>
                    <a:bodyPr/>
                    <a:lstStyle/>
                    <a:p>
                      <a:pPr marL="0" lvl="0" algn="ctr" defTabSz="1219170">
                        <a:buNone/>
                      </a:pPr>
                      <a:r>
                        <a:rPr lang="en-I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7</a:t>
                      </a:r>
                    </a:p>
                  </a:txBody>
                  <a:tcPr marL="9524" marR="9524" marT="9524" marB="0" anchor="ctr">
                    <a:lnL w="6350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Actico BRE API integration </a:t>
                      </a:r>
                      <a:endParaRPr lang="en-US">
                        <a:latin typeface="Arial"/>
                      </a:endParaRPr>
                    </a:p>
                  </a:txBody>
                  <a:tcPr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To automate rule-based decision-making during the credit assessment process using Actico BRE API.</a:t>
                      </a:r>
                      <a:endParaRPr lang="en-US">
                        <a:latin typeface="Arial"/>
                      </a:endParaRPr>
                    </a:p>
                  </a:txBody>
                  <a:tcPr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Reduces manual intervention and helps in TAT reduction</a:t>
                      </a:r>
                    </a:p>
                  </a:txBody>
                  <a:tcPr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defTabSz="1219170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L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31/12/2025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In Dev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547977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474B05D-524D-20FB-19EA-4AE314FE8B93}"/>
              </a:ext>
            </a:extLst>
          </p:cNvPr>
          <p:cNvGraphicFramePr>
            <a:graphicFrameLocks noGrp="1"/>
          </p:cNvGraphicFramePr>
          <p:nvPr/>
        </p:nvGraphicFramePr>
        <p:xfrm>
          <a:off x="2855388" y="6445434"/>
          <a:ext cx="5935215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254">
                  <a:extLst>
                    <a:ext uri="{9D8B030D-6E8A-4147-A177-3AD203B41FA5}">
                      <a16:colId xmlns:a16="http://schemas.microsoft.com/office/drawing/2014/main" val="925260635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541925420"/>
                    </a:ext>
                  </a:extLst>
                </a:gridCol>
                <a:gridCol w="1149927">
                  <a:extLst>
                    <a:ext uri="{9D8B030D-6E8A-4147-A177-3AD203B41FA5}">
                      <a16:colId xmlns:a16="http://schemas.microsoft.com/office/drawing/2014/main" val="4146458761"/>
                    </a:ext>
                  </a:extLst>
                </a:gridCol>
                <a:gridCol w="1330037">
                  <a:extLst>
                    <a:ext uri="{9D8B030D-6E8A-4147-A177-3AD203B41FA5}">
                      <a16:colId xmlns:a16="http://schemas.microsoft.com/office/drawing/2014/main" val="3505943531"/>
                    </a:ext>
                  </a:extLst>
                </a:gridCol>
                <a:gridCol w="1418633">
                  <a:extLst>
                    <a:ext uri="{9D8B030D-6E8A-4147-A177-3AD203B41FA5}">
                      <a16:colId xmlns:a16="http://schemas.microsoft.com/office/drawing/2014/main" val="15898447"/>
                    </a:ext>
                  </a:extLst>
                </a:gridCol>
              </a:tblGrid>
              <a:tr h="132535"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Planned</a:t>
                      </a:r>
                    </a:p>
                  </a:txBody>
                  <a:tcP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Revised  Plan</a:t>
                      </a:r>
                    </a:p>
                  </a:txBody>
                  <a:tcPr>
                    <a:pattFill prst="ltDnDiag">
                      <a:fgClr>
                        <a:srgbClr val="0000CC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In-Progress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Not Completed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Completed </a:t>
                      </a:r>
                    </a:p>
                  </a:txBody>
                  <a:tcPr>
                    <a:solidFill>
                      <a:srgbClr val="3091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913510"/>
                  </a:ext>
                </a:extLst>
              </a:tr>
            </a:tbl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40F665D9-E951-717E-3AAB-5D8F6FB432EC}"/>
              </a:ext>
            </a:extLst>
          </p:cNvPr>
          <p:cNvSpPr/>
          <p:nvPr/>
        </p:nvSpPr>
        <p:spPr>
          <a:xfrm>
            <a:off x="11441757" y="4589892"/>
            <a:ext cx="182880" cy="18288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237D4C1-36D0-3F39-BA31-E5D8EBDF8197}"/>
              </a:ext>
            </a:extLst>
          </p:cNvPr>
          <p:cNvSpPr/>
          <p:nvPr/>
        </p:nvSpPr>
        <p:spPr>
          <a:xfrm>
            <a:off x="11417954" y="3973473"/>
            <a:ext cx="182880" cy="18288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E596F72-A802-6915-6492-C84AA7AE3881}"/>
              </a:ext>
            </a:extLst>
          </p:cNvPr>
          <p:cNvSpPr/>
          <p:nvPr/>
        </p:nvSpPr>
        <p:spPr>
          <a:xfrm>
            <a:off x="11441757" y="1932828"/>
            <a:ext cx="182880" cy="18288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CA95D91-DEAF-85B2-3066-78FBB03038BA}"/>
              </a:ext>
            </a:extLst>
          </p:cNvPr>
          <p:cNvSpPr/>
          <p:nvPr/>
        </p:nvSpPr>
        <p:spPr>
          <a:xfrm>
            <a:off x="11441757" y="2698512"/>
            <a:ext cx="182880" cy="18288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88EC3F1-FCFA-3448-E083-1221DB0F7697}"/>
              </a:ext>
            </a:extLst>
          </p:cNvPr>
          <p:cNvSpPr/>
          <p:nvPr/>
        </p:nvSpPr>
        <p:spPr>
          <a:xfrm>
            <a:off x="11441757" y="3314931"/>
            <a:ext cx="182880" cy="18288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AE300BC-FD9C-8DC3-EA05-538AD802EED8}"/>
              </a:ext>
            </a:extLst>
          </p:cNvPr>
          <p:cNvSpPr/>
          <p:nvPr/>
        </p:nvSpPr>
        <p:spPr>
          <a:xfrm>
            <a:off x="11441757" y="5206311"/>
            <a:ext cx="182880" cy="18288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6026DE3-10C7-59AB-BCB1-CA15D536B375}"/>
              </a:ext>
            </a:extLst>
          </p:cNvPr>
          <p:cNvSpPr/>
          <p:nvPr/>
        </p:nvSpPr>
        <p:spPr>
          <a:xfrm>
            <a:off x="11417954" y="5922678"/>
            <a:ext cx="182880" cy="18288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3485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2H4W1J7mY2OP1dTwc.x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2H4W1J7mY2OP1dTwc.x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2H4W1J7mY2OP1dTwc.x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2H4W1J7mY2OP1dTwc.x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2H4W1J7mY2OP1dTwc.x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2H4W1J7mY2OP1dTwc.x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2H4W1J7mY2OP1dTwc.x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D855A965-1526-4BFA-8892-A3010D908A83}" vid="{E3C6EE3E-8C8D-4A73-A8B1-4286E2A21439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8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262</Words>
  <Application>Microsoft Office PowerPoint</Application>
  <PresentationFormat>Widescreen</PresentationFormat>
  <Paragraphs>65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Aptos</vt:lpstr>
      <vt:lpstr>Arial</vt:lpstr>
      <vt:lpstr>Calibri</vt:lpstr>
      <vt:lpstr>Microsoft Sans Serif</vt:lpstr>
      <vt:lpstr>Raleway</vt:lpstr>
      <vt:lpstr>Theme1</vt:lpstr>
      <vt:lpstr>1_Office Theme</vt:lpstr>
      <vt:lpstr>3_Office Theme</vt:lpstr>
      <vt:lpstr>38_Office Theme</vt:lpstr>
      <vt:lpstr>think-cell Slide</vt:lpstr>
      <vt:lpstr>3W: Key Enhancements – Dec’25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 Rangnani (Fintech/Chennai)</dc:creator>
  <cp:lastModifiedBy>Rahul Rangnani (Fintech/Chennai)</cp:lastModifiedBy>
  <cp:revision>1</cp:revision>
  <dcterms:created xsi:type="dcterms:W3CDTF">2026-05-22T12:36:30Z</dcterms:created>
  <dcterms:modified xsi:type="dcterms:W3CDTF">2026-05-22T12:36:42Z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acbd73f-3615-48fc-b186-fc426e09ae88_Enabled">
    <vt:lpwstr>true</vt:lpwstr>
  </property>
  <property fmtid="{D5CDD505-2E9C-101B-9397-08002B2CF9AE}" pid="3" name="MSIP_Label_6acbd73f-3615-48fc-b186-fc426e09ae88_SetDate">
    <vt:lpwstr>2026-05-22T12:36:35Z</vt:lpwstr>
  </property>
  <property fmtid="{D5CDD505-2E9C-101B-9397-08002B2CF9AE}" pid="4" name="MSIP_Label_6acbd73f-3615-48fc-b186-fc426e09ae88_Method">
    <vt:lpwstr>Standard</vt:lpwstr>
  </property>
  <property fmtid="{D5CDD505-2E9C-101B-9397-08002B2CF9AE}" pid="5" name="MSIP_Label_6acbd73f-3615-48fc-b186-fc426e09ae88_Name">
    <vt:lpwstr>Internal - TVS Credits</vt:lpwstr>
  </property>
  <property fmtid="{D5CDD505-2E9C-101B-9397-08002B2CF9AE}" pid="6" name="MSIP_Label_6acbd73f-3615-48fc-b186-fc426e09ae88_SiteId">
    <vt:lpwstr>125330db-c70b-4f5e-81c6-23e86d3c1f3a</vt:lpwstr>
  </property>
  <property fmtid="{D5CDD505-2E9C-101B-9397-08002B2CF9AE}" pid="7" name="MSIP_Label_6acbd73f-3615-48fc-b186-fc426e09ae88_ActionId">
    <vt:lpwstr>49c1f844-9ae8-4364-a173-3a8f8f9c4062</vt:lpwstr>
  </property>
  <property fmtid="{D5CDD505-2E9C-101B-9397-08002B2CF9AE}" pid="8" name="MSIP_Label_6acbd73f-3615-48fc-b186-fc426e09ae88_ContentBits">
    <vt:lpwstr>0</vt:lpwstr>
  </property>
  <property fmtid="{D5CDD505-2E9C-101B-9397-08002B2CF9AE}" pid="9" name="MSIP_Label_6acbd73f-3615-48fc-b186-fc426e09ae88_Tag">
    <vt:lpwstr>10, 3, 0, 1</vt:lpwstr>
  </property>
</Properties>
</file>